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1828800" cy="1828800"/>
          </a:xfrm>
          <a:prstGeom prst="ellipse">
            <a:avLst/>
          </a:prstGeom>
          <a:solidFill>
            <a:srgbClr val="2C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03120"/>
            <a:ext cx="1097280" cy="1097280"/>
          </a:xfrm>
          <a:prstGeom prst="ellipse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834640"/>
            <a:ext cx="914400" cy="914400"/>
          </a:xfrm>
          <a:prstGeom prst="ellipse">
            <a:avLst/>
          </a:prstGeom>
          <a:solidFill>
            <a:srgbClr val="F4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7772400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CLOSED-DOMAIN TECHNICAL
DOCUMENTATION QA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1323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BEDCF0"/>
                </a:solidFill>
                <a:latin typeface="Aptos"/>
              </a:rPr>
              <a:t>Question answering with TF-IDF retrieval and RoBERTa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72237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DCE4F0"/>
                </a:solidFill>
                <a:latin typeface="Aptos"/>
              </a:rPr>
              <a:t>CS312B • Deep Learning and Generative AI • CA-2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5943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AB9CD"/>
                </a:solidFill>
                <a:latin typeface="Aptos"/>
              </a:rPr>
              <a:t>Prepared for academic project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BECADC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BECADC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71323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26B4AA"/>
                </a:solidFill>
                <a:latin typeface="Aptos"/>
              </a:rPr>
              <a:t>Submitted by: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BF1FA"/>
                </a:solidFill>
                <a:latin typeface="Aptos"/>
              </a:rPr>
              <a:t>Abhinav Verma  |  Roll No.: 20240110010010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BF1FA"/>
                </a:solidFill>
                <a:latin typeface="Aptos"/>
              </a:rPr>
              <a:t>Anirudh Vashisth  |  Roll No.: 20240110010046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1E37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51560" cy="54864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184"/>
                </a:solidFill>
                <a:latin typeface="Aptos"/>
              </a:rPr>
              <a:t>Why a closed-domain QA bot?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2468880"/>
          </a:xfrm>
          <a:prstGeom prst="rect">
            <a:avLst/>
          </a:prstGeom>
          <a:solidFill>
            <a:srgbClr val="2C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44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2"/>
            <a:ext cx="3044952" cy="1719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C3C"/>
                </a:solidFill>
                <a:latin typeface="Aptos"/>
              </a:rPr>
              <a:t>Technical documentation can be long, fragmented, and difficult to search manually.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2468880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044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50592"/>
            <a:ext cx="3044952" cy="1719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C3C"/>
                </a:solidFill>
                <a:latin typeface="Aptos"/>
              </a:rPr>
              <a:t>Answer user questions using a limited collection of trusted technical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2468880"/>
          </a:xfrm>
          <a:prstGeom prst="rect">
            <a:avLst/>
          </a:prstGeom>
          <a:solidFill>
            <a:srgbClr val="F4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993392"/>
            <a:ext cx="3044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The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450592"/>
            <a:ext cx="3044952" cy="1719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C3C"/>
                </a:solidFill>
                <a:latin typeface="Aptos"/>
              </a:rPr>
              <a:t>Retrieve a relevant passage, then use a pretrained extractive QA model to find an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C3C"/>
                </a:solidFill>
                <a:latin typeface="Aptos"/>
              </a:defRPr>
            </a:pPr>
            <a:r>
              <a:t>Scope: documentation-style text such as AI/ML concepts and university FAQs</a:t>
            </a:r>
          </a:p>
          <a:p>
            <a:pPr>
              <a:spcAft>
                <a:spcPts val="1200"/>
              </a:spcAft>
              <a:defRPr sz="1700">
                <a:solidFill>
                  <a:srgbClr val="232C3C"/>
                </a:solidFill>
                <a:latin typeface="Aptos"/>
              </a:defRPr>
            </a:pPr>
            <a:r>
              <a:t>Expected benefit: faster access to specific facts without reading every paragraph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828FA0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828FA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1E37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51560" cy="54864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184"/>
                </a:solidFill>
                <a:latin typeface="Aptos"/>
              </a:rPr>
              <a:t>What the prototype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C3C"/>
                </a:solidFill>
                <a:latin typeface="Aptos"/>
              </a:defRPr>
            </a:pPr>
            <a:r>
              <a:t>Accept a natural-language question from the user.</a:t>
            </a:r>
          </a:p>
          <a:p>
            <a:pPr>
              <a:spcAft>
                <a:spcPts val="1300"/>
              </a:spcAft>
              <a:defRPr sz="2000">
                <a:solidFill>
                  <a:srgbClr val="232C3C"/>
                </a:solidFill>
                <a:latin typeface="Aptos"/>
              </a:defRPr>
            </a:pPr>
            <a:r>
              <a:t>Split the source text into manageable passages.</a:t>
            </a:r>
          </a:p>
          <a:p>
            <a:pPr>
              <a:spcAft>
                <a:spcPts val="1300"/>
              </a:spcAft>
              <a:defRPr sz="2000">
                <a:solidFill>
                  <a:srgbClr val="232C3C"/>
                </a:solidFill>
                <a:latin typeface="Aptos"/>
              </a:defRPr>
            </a:pPr>
            <a:r>
              <a:t>Rank passages using TF-IDF similarity.</a:t>
            </a:r>
          </a:p>
          <a:p>
            <a:pPr>
              <a:spcAft>
                <a:spcPts val="1300"/>
              </a:spcAft>
              <a:defRPr sz="2000">
                <a:solidFill>
                  <a:srgbClr val="232C3C"/>
                </a:solidFill>
                <a:latin typeface="Aptos"/>
              </a:defRPr>
            </a:pPr>
            <a:r>
              <a:t>Pass the best candidate passage and question to RoBERTa-based extractive QA.</a:t>
            </a:r>
          </a:p>
          <a:p>
            <a:pPr>
              <a:spcAft>
                <a:spcPts val="1300"/>
              </a:spcAft>
              <a:defRPr sz="2000">
                <a:solidFill>
                  <a:srgbClr val="232C3C"/>
                </a:solidFill>
                <a:latin typeface="Aptos"/>
              </a:defRPr>
            </a:pPr>
            <a:r>
              <a:t>Evaluate sample answers with Exact Match (EM) and token-level F1.</a:t>
            </a:r>
          </a:p>
          <a:p>
            <a:pPr>
              <a:spcAft>
                <a:spcPts val="1300"/>
              </a:spcAft>
              <a:defRPr sz="2000">
                <a:solidFill>
                  <a:srgbClr val="232C3C"/>
                </a:solidFill>
                <a:latin typeface="Aptos"/>
              </a:defRPr>
            </a:pPr>
            <a:r>
              <a:t>Visualize evaluation and retrieval results; expose an optional Gradio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828FA0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828FA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1E37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51560" cy="54864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184"/>
                </a:solidFill>
                <a:latin typeface="Aptos"/>
              </a:rPr>
              <a:t>A retrieval + reading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542032"/>
            <a:ext cx="1645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1E37"/>
                </a:solidFill>
                <a:latin typeface="Aptos"/>
              </a:rPr>
              <a:t>1. Source
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27248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184"/>
                </a:solidFill>
                <a:latin typeface="Aptos"/>
              </a:rPr>
              <a:t>Technical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724912"/>
            <a:ext cx="3474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C70D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33172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6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542032"/>
            <a:ext cx="1645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1E37"/>
                </a:solidFill>
                <a:latin typeface="Aptos"/>
              </a:rPr>
              <a:t>2. 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27248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184"/>
                </a:solidFill>
                <a:latin typeface="Aptos"/>
              </a:rPr>
              <a:t>Passages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724912"/>
            <a:ext cx="3474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C70D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33172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542032"/>
            <a:ext cx="1645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1E37"/>
                </a:solidFill>
                <a:latin typeface="Aptos"/>
              </a:rPr>
              <a:t>3. TF-IDF
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127248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184"/>
                </a:solidFill>
                <a:latin typeface="Aptos"/>
              </a:rPr>
              <a:t>Top passage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2724912"/>
            <a:ext cx="3474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C70D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33172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4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542032"/>
            <a:ext cx="1645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1E37"/>
                </a:solidFill>
                <a:latin typeface="Aptos"/>
              </a:rPr>
              <a:t>4. RoBERTa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27248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184"/>
                </a:solidFill>
                <a:latin typeface="Aptos"/>
              </a:rPr>
              <a:t>Answer span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724912"/>
            <a:ext cx="3474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C70D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233172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6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542032"/>
            <a:ext cx="1645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1E37"/>
                </a:solidFill>
                <a:latin typeface="Aptos"/>
              </a:rPr>
              <a:t>5.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127248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184"/>
                </a:solidFill>
                <a:latin typeface="Aptos"/>
              </a:rPr>
              <a:t>Answer to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1887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6B4AA"/>
                </a:solidFill>
                <a:latin typeface="Aptos"/>
              </a:rPr>
              <a:t>Key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416552"/>
            <a:ext cx="91440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32C3C"/>
                </a:solidFill>
                <a:latin typeface="Aptos"/>
              </a:rPr>
              <a:t>Retrieval narrows the search space; RoBERTa extracts an answer from the selected passage.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828FA0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828FA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1E37"/>
                </a:solidFill>
                <a:latin typeface="Aptos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51560" cy="54864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184"/>
                </a:solidFill>
                <a:latin typeface="Aptos"/>
              </a:rPr>
              <a:t>How a question becomes an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3152" cy="1417320"/>
          </a:xfrm>
          <a:prstGeom prst="rect">
            <a:avLst/>
          </a:prstGeom>
          <a:solidFill>
            <a:srgbClr val="2C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47823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Step 1 — Prepare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4782312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C3C"/>
                </a:solidFill>
                <a:latin typeface="Aptos"/>
              </a:rPr>
              <a:t>Create short text chunks from the technical knowledge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73152" cy="1417320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01952"/>
            <a:ext cx="47823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Step 2 — Retrieve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59152"/>
            <a:ext cx="4782312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C3C"/>
                </a:solidFill>
                <a:latin typeface="Aptos"/>
              </a:rPr>
              <a:t>Vectorize passages with TF-IDF and rank by question similarity.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20440"/>
            <a:ext cx="73152" cy="1417320"/>
          </a:xfrm>
          <a:prstGeom prst="rect">
            <a:avLst/>
          </a:prstGeom>
          <a:solidFill>
            <a:srgbClr val="F4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685032"/>
            <a:ext cx="47823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Step 3 — Extract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42232"/>
            <a:ext cx="4782312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C3C"/>
                </a:solidFill>
                <a:latin typeface="Aptos"/>
              </a:rPr>
              <a:t>Use `deepset/roberta-base-squad2` to predict an answer span from question + passage.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40"/>
            <a:ext cx="73152" cy="1417320"/>
          </a:xfrm>
          <a:prstGeom prst="rect">
            <a:avLst/>
          </a:prstGeom>
          <a:solidFill>
            <a:srgbClr val="2C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685032"/>
            <a:ext cx="47823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Step 4 — 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142232"/>
            <a:ext cx="4782312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C3C"/>
                </a:solidFill>
                <a:latin typeface="Aptos"/>
              </a:rPr>
              <a:t>Compare predictions against reference answers with EM and token-level F1.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184"/>
                </a:solidFill>
                <a:latin typeface="Aptos"/>
              </a:rPr>
              <a:t>Prototype note: fine-tuning was tested on a small SQuAD 2.0 subset (100 training / 30 validation examples, one epoch).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828FA0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828FA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1E37"/>
                </a:solidFill>
                <a:latin typeface="Aptos"/>
              </a:rPr>
              <a:t>Implementation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51560" cy="54864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184"/>
                </a:solidFill>
                <a:latin typeface="Aptos"/>
              </a:rPr>
              <a:t>Notebook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73152" cy="2011680"/>
          </a:xfrm>
          <a:prstGeom prst="rect">
            <a:avLst/>
          </a:prstGeom>
          <a:solidFill>
            <a:srgbClr val="2C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3044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Python + Jupyter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3044952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C3C"/>
                </a:solidFill>
                <a:latin typeface="Aptos"/>
              </a:rPr>
              <a:t>Experiment setup, preprocessing, model inference, evaluation, and plots.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73152" cy="2011680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044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Hugging 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04872"/>
            <a:ext cx="3044952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C3C"/>
                </a:solidFill>
                <a:latin typeface="Aptos"/>
              </a:rPr>
              <a:t>Transformers pipeline and pretrained RoBERTa SQuAD 2.0 checkpoint.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73152" cy="2011680"/>
          </a:xfrm>
          <a:prstGeom prst="rect">
            <a:avLst/>
          </a:prstGeom>
          <a:solidFill>
            <a:srgbClr val="F4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947672"/>
            <a:ext cx="3044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scikit-learn +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04872"/>
            <a:ext cx="3044952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C3C"/>
                </a:solidFill>
                <a:latin typeface="Aptos"/>
              </a:rPr>
              <a:t>TF-IDF retrieval, metrics/visualizations, and optional Gradio demo.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42416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C3C"/>
                </a:solidFill>
                <a:latin typeface="Aptos"/>
              </a:defRPr>
            </a:pPr>
            <a:r>
              <a:t>Notebook: executed prototype with sample questions and evaluation charts.</a:t>
            </a:r>
          </a:p>
          <a:p>
            <a:pPr>
              <a:spcAft>
                <a:spcPts val="800"/>
              </a:spcAft>
              <a:defRPr sz="1700">
                <a:solidFill>
                  <a:srgbClr val="232C3C"/>
                </a:solidFill>
                <a:latin typeface="Aptos"/>
              </a:defRPr>
            </a:pPr>
            <a:r>
              <a:t>Training experiment: small subset only; results should be treated as preliminary.</a:t>
            </a:r>
          </a:p>
          <a:p>
            <a:pPr>
              <a:spcAft>
                <a:spcPts val="800"/>
              </a:spcAft>
              <a:defRPr sz="1700">
                <a:solidFill>
                  <a:srgbClr val="232C3C"/>
                </a:solidFill>
                <a:latin typeface="Aptos"/>
              </a:defRPr>
            </a:pPr>
            <a:r>
              <a:t>PDF ingestion is not yet a complete end-to-end feature in the current prototype.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828FA0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828FA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1E37"/>
                </a:solidFill>
                <a:latin typeface="Aptos"/>
              </a:rPr>
              <a:t>Preliminary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51560" cy="54864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184"/>
                </a:solidFill>
                <a:latin typeface="Aptos"/>
              </a:rPr>
              <a:t>Metrics from the current small evaluation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647184"/>
                </a:solidFill>
                <a:latin typeface="Aptos"/>
              </a:rPr>
              <a:t>Exact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2971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2C70D6"/>
                </a:solidFill>
                <a:latin typeface="Aptos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82112"/>
            <a:ext cx="2880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184"/>
                </a:solidFill>
                <a:latin typeface="Aptos"/>
              </a:rPr>
              <a:t>1 of 4 examples matched exactly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21408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647184"/>
                </a:solidFill>
                <a:latin typeface="Aptos"/>
              </a:rPr>
              <a:t>Token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78608"/>
            <a:ext cx="2971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26B4AA"/>
                </a:solidFill>
                <a:latin typeface="Aptos"/>
              </a:rPr>
              <a:t>60.9%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182112"/>
            <a:ext cx="2880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184"/>
                </a:solidFill>
                <a:latin typeface="Aptos"/>
              </a:rPr>
              <a:t>Average overlap score on 4 examples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74519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121408"/>
            <a:ext cx="2971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647184"/>
                </a:solidFill>
                <a:latin typeface="Aptos"/>
              </a:rPr>
              <a:t>Validation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578608"/>
            <a:ext cx="2971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F4A046"/>
                </a:solidFill>
                <a:latin typeface="Aptos"/>
              </a:rPr>
              <a:t>≈ 0.7168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182112"/>
            <a:ext cx="2880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184"/>
                </a:solidFill>
                <a:latin typeface="Aptos"/>
              </a:rPr>
              <a:t>Small SQuAD 2.0 subset; 1 epoch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6B4AA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1042416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C3C"/>
                </a:solidFill>
                <a:latin typeface="Aptos"/>
              </a:defRPr>
            </a:pPr>
            <a:r>
              <a:t>These numbers are preliminary, not a robust benchmark.</a:t>
            </a:r>
          </a:p>
          <a:p>
            <a:pPr>
              <a:spcAft>
                <a:spcPts val="600"/>
              </a:spcAft>
              <a:defRPr sz="1600">
                <a:solidFill>
                  <a:srgbClr val="232C3C"/>
                </a:solidFill>
                <a:latin typeface="Aptos"/>
              </a:defRPr>
            </a:pPr>
            <a:r>
              <a:t>EM and F1 were calculated on only four manually prepared examples.</a:t>
            </a:r>
          </a:p>
          <a:p>
            <a:pPr>
              <a:spcAft>
                <a:spcPts val="600"/>
              </a:spcAft>
              <a:defRPr sz="1600">
                <a:solidFill>
                  <a:srgbClr val="232C3C"/>
                </a:solidFill>
                <a:latin typeface="Aptos"/>
              </a:defRPr>
            </a:pPr>
            <a:r>
              <a:t>A larger held-out test set is needed before making general performance claims.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828FA0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828FA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1E37"/>
                </a:solidFill>
                <a:latin typeface="Aptos"/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05840"/>
            <a:ext cx="1051560" cy="54864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184"/>
                </a:solidFill>
                <a:latin typeface="Aptos"/>
              </a:rPr>
              <a:t>What should be improved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1663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73152" cy="3246120"/>
          </a:xfrm>
          <a:prstGeom prst="rect">
            <a:avLst/>
          </a:prstGeom>
          <a:solidFill>
            <a:srgbClr val="F4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47823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4782312" cy="2496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C3C"/>
                </a:solidFill>
                <a:latin typeface="Aptos"/>
              </a:rPr>
              <a:t>• Very small manually written evaluation set
• Fine-tuning uses only 100 train / 30 validation samples
• Answers depend on the quality of retrieved text
• PDF upload is not fully implemented end to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73152" cy="3246120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47672"/>
            <a:ext cx="47823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E37"/>
                </a:solidFill>
                <a:latin typeface="Aptos"/>
              </a:rP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404872"/>
            <a:ext cx="4782312" cy="2496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C3C"/>
                </a:solidFill>
                <a:latin typeface="Aptos"/>
              </a:rPr>
              <a:t>• Evaluate on a larger held-out dataset
• Add document/PDF ingestion and text extraction
• Improve chunking and retrieval (e.g., embeddings)
• Add citations/snippets and confidence-aware fallback
• Test across more technical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47184"/>
                </a:solidFill>
                <a:latin typeface="Aptos"/>
              </a:rPr>
              <a:t>Responsible use: treat outputs as assistance, verify important answers against the original documentation.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828FA0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828FA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298448"/>
            <a:ext cx="1005840" cy="54864"/>
          </a:xfrm>
          <a:prstGeom prst="rect">
            <a:avLst/>
          </a:prstGeom>
          <a:solidFill>
            <a:srgbClr val="26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9875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 practical QA prototype can combine lightweight passage retrieval with a pretrained transformer reader.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996696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CE4F0"/>
                </a:solidFill>
                <a:latin typeface="Aptos"/>
              </a:defRPr>
            </a:pPr>
            <a:r>
              <a:t>TF-IDF selects a relevant passage from the closed-domain corpus.</a:t>
            </a:r>
          </a:p>
          <a:p>
            <a:pPr>
              <a:spcAft>
                <a:spcPts val="1200"/>
              </a:spcAft>
              <a:defRPr sz="1800">
                <a:solidFill>
                  <a:srgbClr val="DCE4F0"/>
                </a:solidFill>
                <a:latin typeface="Aptos"/>
              </a:defRPr>
            </a:pPr>
            <a:r>
              <a:t>RoBERTa predicts an answer span from the selected passage.</a:t>
            </a:r>
          </a:p>
          <a:p>
            <a:pPr>
              <a:spcAft>
                <a:spcPts val="1200"/>
              </a:spcAft>
              <a:defRPr sz="1800">
                <a:solidFill>
                  <a:srgbClr val="DCE4F0"/>
                </a:solidFill>
                <a:latin typeface="Aptos"/>
              </a:defRPr>
            </a:pPr>
            <a:r>
              <a:t>Early results demonstrate the workflow, while broader evaluation remains necessary.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6B4AA"/>
                </a:solidFill>
                <a:latin typeface="Aptos"/>
              </a:rPr>
              <a:t>Thank you •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BECADC"/>
                </a:solidFill>
                <a:latin typeface="Aptos"/>
              </a:rPr>
              <a:t>CLOSED-DOMAIN TECHNICAL DOCUMENTATION QA 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BECAD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